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2" r:id="rId14"/>
    <p:sldId id="273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title and technology details verified from pom.xml, package.json, frontend routes, and backend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Overview grounded in README and implemented React pages, controllers, services, entities and audit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framing inferred from the implemented controls and workflows; no quantitative claims are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verified from frontend service layer, Spring controllers/services/repositories/security, pom.xml and application.properties.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Versions verified from backend pom.xml and frontend package.json. Swagger/OpenAPI is intentionally excluded because no springdoc dependency is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Roles verified from RoleType, SecurityConfig, ProtectedRoute and AppRoutes.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flow verified from ApplicationStatus, ApplicationService and VerificationWorkflowService.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Logic and criterion types verified from EligibilityService, related enums, DTOs and tests. High-value risk applies at grant amount &gt;= INR 500,000; borderline scores may be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VerificationWorkflowService, Verification entity, controllers and audit service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DisbursementService, MilestoneService, TreasuryIntegrationService and compliance tests. The treasury transfer is simulated, not a live government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AuthController, AuthService, JwtService, JwtAuthenticationFilter, SecurityConfig, AuthContext and ProtectedRoute. Token duration from application.properties.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frontend routes, pages, layout components, shared components and service modules. No application screenshot was included in the ZIP, so this slide uses an accurate source-derived interface map rather than fabricated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are based on TreasuryIntegrationService, ExternalBeneficiarySyncService, local upload configuration, CORS configuration and monolithic project structure. Future scope is clearly prospective.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summarizes only implemented capabilities verified from the project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7858125" y="0"/>
            <a:ext cx="4333875" cy="4572000"/>
          </a:xfrm>
          <a:prstGeom prst="roundRect">
            <a:avLst>
              <a:gd name="adj" fmla="val 1758"/>
            </a:avLst>
          </a:prstGeom>
          <a:solidFill>
            <a:srgbClr val="0D3550"/>
          </a:solidFill>
          <a:ln w="0">
            <a:noFill/>
          </a:ln>
        </p:spPr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9096375" y="333375"/>
            <a:ext cx="3048000" cy="3048000"/>
          </a:xfrm>
          <a:prstGeom prst="roundRect">
            <a:avLst>
              <a:gd name="adj" fmla="val 2500"/>
            </a:avLst>
          </a:prstGeom>
          <a:solidFill>
            <a:srgbClr val="10516A"/>
          </a:solidFill>
          <a:ln w="0">
            <a:noFill/>
          </a:ln>
        </p:spPr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10191750" y="152400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7239000" y="4000500"/>
            <a:ext cx="3429000" cy="1333500"/>
          </a:xfrm>
          <a:prstGeom prst="line">
            <a:avLst/>
          </a:prstGeom>
          <a:noFill/>
          <a:ln w="19050">
            <a:solidFill>
              <a:srgbClr val="1D5068"/>
            </a:solidFill>
          </a:ln>
        </p:spPr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7905750" y="3657600"/>
            <a:ext cx="2990850" cy="1123950"/>
          </a:xfrm>
          <a:prstGeom prst="line">
            <a:avLst/>
          </a:prstGeom>
          <a:noFill/>
          <a:ln w="19050">
            <a:solidFill>
              <a:srgbClr val="1D5068"/>
            </a:solidFill>
          </a:ln>
        </p:spPr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8572500" y="3314700"/>
            <a:ext cx="2552700" cy="914400"/>
          </a:xfrm>
          <a:prstGeom prst="line">
            <a:avLst/>
          </a:prstGeom>
          <a:noFill/>
          <a:ln w="19050">
            <a:solidFill>
              <a:srgbClr val="1D5068"/>
            </a:solidFill>
          </a:ln>
        </p:spPr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9239250" y="2971800"/>
            <a:ext cx="2114550" cy="704850"/>
          </a:xfrm>
          <a:prstGeom prst="line">
            <a:avLst/>
          </a:prstGeom>
          <a:noFill/>
          <a:ln w="19050">
            <a:solidFill>
              <a:srgbClr val="1D5068"/>
            </a:solidFill>
          </a:ln>
        </p:spPr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9906000" y="2628900"/>
            <a:ext cx="1676400" cy="495300"/>
          </a:xfrm>
          <a:prstGeom prst="line">
            <a:avLst/>
          </a:prstGeom>
          <a:noFill/>
          <a:ln w="19050">
            <a:solidFill>
              <a:srgbClr val="1D5068"/>
            </a:solidFill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666750" y="1123950"/>
            <a:ext cx="6858000" cy="2095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34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3450" b="1" dirty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Development of Digital</a:t>
            </a:r>
            <a:r>
              <a:rPr sz="3450" b="1" dirty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 Subsidy</a:t>
            </a:r>
          </a:p>
          <a:p>
            <a:pPr>
              <a:defRPr sz="34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 dirty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&amp; Grant </a:t>
            </a:r>
            <a:r>
              <a:rPr lang="en-US" sz="3450" b="1" dirty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Administration Platform</a:t>
            </a:r>
            <a:endParaRPr sz="3450" b="1" dirty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34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endParaRPr sz="3450" b="1" dirty="0">
              <a:solidFill>
                <a:srgbClr val="F7FAF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85800" y="3429000"/>
            <a:ext cx="6477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Transparent workflows. Controlled releases. Accountable outcomes.</a:t>
            </a: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85800" y="4114800"/>
            <a:ext cx="10668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781050" y="4114800"/>
            <a:ext cx="8763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REACT 18</a:t>
            </a: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1866900" y="4114800"/>
            <a:ext cx="1790700" cy="304800"/>
          </a:xfrm>
          <a:prstGeom prst="roundRect">
            <a:avLst>
              <a:gd name="adj" fmla="val 25000"/>
            </a:avLst>
          </a:prstGeom>
          <a:solidFill>
            <a:srgbClr val="54D7FF"/>
          </a:solidFill>
          <a:ln w="0">
            <a:noFill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962150" y="4114800"/>
            <a:ext cx="16002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SPRING BOOT 3.2.5</a:t>
            </a: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3771900" y="4114800"/>
            <a:ext cx="11239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3867150" y="4114800"/>
            <a:ext cx="9334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MYSQL 8.x</a:t>
            </a: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85800" y="52197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Infosys Springboard Virtual Internship 7.0 • Batch 2</a:t>
            </a: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1144250" y="64198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01 • CONTEXT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One platform for the complete grant lifecycle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A role-aware web application connecting citizens, officers, finance teams and administrators.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09600" y="1809750"/>
            <a:ext cx="3352800" cy="1809750"/>
          </a:xfrm>
          <a:prstGeom prst="roundRect">
            <a:avLst>
              <a:gd name="adj" fmla="val 4211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09600" y="1809750"/>
            <a:ext cx="66675" cy="1809750"/>
          </a:xfrm>
          <a:prstGeom prst="rect">
            <a:avLst/>
          </a:prstGeom>
          <a:solidFill>
            <a:srgbClr val="19C5B1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819150" y="1981200"/>
            <a:ext cx="400050" cy="400050"/>
          </a:xfrm>
          <a:prstGeom prst="rect">
            <a:avLst/>
          </a:prstGeom>
          <a:solidFill>
            <a:srgbClr val="19C5B1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333500" y="1962150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Discover &amp; apply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38200" y="2438400"/>
            <a:ext cx="2895600" cy="1028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Beneficiaries browse active schemes, maintain profiles, create applications, attach documents and track status.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191000" y="1809750"/>
            <a:ext cx="3352800" cy="1809750"/>
          </a:xfrm>
          <a:prstGeom prst="roundRect">
            <a:avLst>
              <a:gd name="adj" fmla="val 4211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1809750"/>
            <a:ext cx="66675" cy="1809750"/>
          </a:xfrm>
          <a:prstGeom prst="rect">
            <a:avLst/>
          </a:prstGeom>
          <a:solidFill>
            <a:srgbClr val="54D7FF"/>
          </a:solidFill>
          <a:ln w="0">
            <a:noFill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400550" y="1981200"/>
            <a:ext cx="400050" cy="400050"/>
          </a:xfrm>
          <a:prstGeom prst="rect">
            <a:avLst/>
          </a:prstGeom>
          <a:solidFill>
            <a:srgbClr val="54D7FF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914900" y="1962150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Verify &amp; approve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419600" y="2438400"/>
            <a:ext cx="2895600" cy="1028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Field, district and finance officers process controlled stage transitions with recorded decisions.</a:t>
            </a: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772400" y="1809750"/>
            <a:ext cx="3352800" cy="1809750"/>
          </a:xfrm>
          <a:prstGeom prst="roundRect">
            <a:avLst>
              <a:gd name="adj" fmla="val 4211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772400" y="1809750"/>
            <a:ext cx="66675" cy="1809750"/>
          </a:xfrm>
          <a:prstGeom prst="rect">
            <a:avLst/>
          </a:prstGeom>
          <a:solidFill>
            <a:srgbClr val="FFB547"/>
          </a:solidFill>
          <a:ln w="0">
            <a:noFill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981950" y="1981200"/>
            <a:ext cx="400050" cy="400050"/>
          </a:xfrm>
          <a:prstGeom prst="rect">
            <a:avLst/>
          </a:prstGeom>
          <a:solidFill>
            <a:srgbClr val="FFB547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496300" y="1962150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Release &amp; monitor</a:t>
            </a: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001000" y="2438400"/>
            <a:ext cx="2895600" cy="1028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Milestone compliance gates fund releases; utilization proof, analytics and audit logs provide oversight.</a:t>
            </a: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609600" y="4000500"/>
            <a:ext cx="10515600" cy="1714500"/>
          </a:xfrm>
          <a:prstGeom prst="roundRect">
            <a:avLst>
              <a:gd name="adj" fmla="val 4444"/>
            </a:avLst>
          </a:prstGeom>
          <a:solidFill>
            <a:srgbClr val="0A2237"/>
          </a:solidFill>
          <a:ln w="0">
            <a:noFill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57250" y="422910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SYSTEM PROMISE</a:t>
            </a: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857250" y="4514850"/>
            <a:ext cx="92392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1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Turn a fragmented subsidy process into a traceable digital workflow</a:t>
            </a: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57250" y="5048250"/>
            <a:ext cx="90487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Every major action—from eligibility evaluation to treasury simulation—passes through explicit business rules and persistent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02 • NEED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Fragmented administration weakens trust and control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The project addresses operational gaps across application review, approval, release and post-release monitoring.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09600" y="18097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09600" y="1809750"/>
            <a:ext cx="66675" cy="142875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819150" y="1981200"/>
            <a:ext cx="400050" cy="40005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333500" y="19621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Manual handoffs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38200" y="2438400"/>
            <a:ext cx="44958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Status updates become slow and difficult to trace.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5867400" y="18097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5867400" y="1809750"/>
            <a:ext cx="66675" cy="1428750"/>
          </a:xfrm>
          <a:prstGeom prst="rect">
            <a:avLst/>
          </a:prstGeom>
          <a:solidFill>
            <a:srgbClr val="FFB547"/>
          </a:solidFill>
          <a:ln w="0">
            <a:noFill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076950" y="1981200"/>
            <a:ext cx="400050" cy="400050"/>
          </a:xfrm>
          <a:prstGeom prst="rect">
            <a:avLst/>
          </a:prstGeom>
          <a:solidFill>
            <a:srgbClr val="FFB547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591300" y="19621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Inconsistent eligibility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096000" y="2438400"/>
            <a:ext cx="44958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Rule interpretation can vary without configurable scoring.</a:t>
            </a: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09600" y="35242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609600" y="3524250"/>
            <a:ext cx="66675" cy="1428750"/>
          </a:xfrm>
          <a:prstGeom prst="rect">
            <a:avLst/>
          </a:prstGeom>
          <a:solidFill>
            <a:srgbClr val="54D7FF"/>
          </a:solidFill>
          <a:ln w="0">
            <a:noFill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819150" y="3695700"/>
            <a:ext cx="400050" cy="400050"/>
          </a:xfrm>
          <a:prstGeom prst="rect">
            <a:avLst/>
          </a:prstGeom>
          <a:solidFill>
            <a:srgbClr val="54D7FF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333500" y="36766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Release risk</a:t>
            </a: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38200" y="4152900"/>
            <a:ext cx="44958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Funds may be released without milestone evidence or budget checks.</a:t>
            </a: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5867400" y="35242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0C2941"/>
          </a:solidFill>
          <a:ln w="0">
            <a:noFill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5867400" y="3524250"/>
            <a:ext cx="66675" cy="1428750"/>
          </a:xfrm>
          <a:prstGeom prst="rect">
            <a:avLst/>
          </a:prstGeom>
          <a:solidFill>
            <a:srgbClr val="19C5B1"/>
          </a:solidFill>
          <a:ln w="0">
            <a:noFill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076950" y="3695700"/>
            <a:ext cx="400050" cy="400050"/>
          </a:xfrm>
          <a:prstGeom prst="rect">
            <a:avLst/>
          </a:prstGeom>
          <a:solidFill>
            <a:srgbClr val="19C5B1"/>
          </a:solidFill>
          <a:ln w="0">
            <a:noFill/>
          </a:ln>
        </p:spPr>
        <p:txBody>
          <a:bodyPr anchor="ctr"/>
          <a:lstStyle/>
          <a:p>
            <a:pPr>
              <a:def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591300" y="367665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Limited visibility</a:t>
            </a: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6096000" y="4152900"/>
            <a:ext cx="4495800" cy="647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Citizens and officers lack one shared lifecycle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r>
              <a:rPr lang="en-US"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4</a:t>
            </a: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 • ARCHITECTURE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 layered monolith with a separate React client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The browser communicates with stateless REST APIs; service logic persists domain state through Spring Data JPA.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4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47700" y="19240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54D7FF"/>
            </a:solidFill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742950" y="200025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React 18 + Router</a:t>
            </a: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47700" y="304800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54D7FF"/>
            </a:solidFill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3124200"/>
            <a:ext cx="16192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Axios API layer</a:t>
            </a:r>
          </a:p>
        </p:txBody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1552575" y="2590800"/>
            <a:ext cx="0" cy="438150"/>
          </a:xfrm>
          <a:prstGeom prst="line">
            <a:avLst/>
          </a:prstGeom>
          <a:noFill/>
          <a:ln w="28575">
            <a:solidFill>
              <a:srgbClr val="54D7FF"/>
            </a:solidFill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143250" y="19240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19C5B1"/>
            </a:solidFill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238500" y="20002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JWT filter + Spring Security</a:t>
            </a: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3143250" y="304800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19C5B1"/>
            </a:solidFill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238500" y="312420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REST Controllers</a:t>
            </a: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3143250" y="4171950"/>
            <a:ext cx="238125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19C5B1"/>
            </a:solidFill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238500" y="42481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Domain Services</a:t>
            </a: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4333875" y="2590800"/>
            <a:ext cx="0" cy="43815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4333875" y="3714750"/>
            <a:ext cx="0" cy="43815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6210300" y="3048000"/>
            <a:ext cx="228600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FFB547"/>
            </a:solidFill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6305550" y="3124200"/>
            <a:ext cx="209550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Data Repositories</a:t>
            </a: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6210300" y="4171950"/>
            <a:ext cx="2286000" cy="666750"/>
          </a:xfrm>
          <a:prstGeom prst="roundRect">
            <a:avLst>
              <a:gd name="adj" fmla="val 11429"/>
            </a:avLst>
          </a:prstGeom>
          <a:solidFill>
            <a:srgbClr val="12334A"/>
          </a:solidFill>
          <a:ln w="9525">
            <a:solidFill>
              <a:srgbClr val="FFB547"/>
            </a:solidFill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6305550" y="4248150"/>
            <a:ext cx="209550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JPA / Hibernate</a:t>
            </a:r>
          </a:p>
        </p:txBody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5524500" y="3381375"/>
            <a:ext cx="666750" cy="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7353300" y="3714750"/>
            <a:ext cx="0" cy="43815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9182100" y="3600450"/>
            <a:ext cx="1809750" cy="762000"/>
          </a:xfrm>
          <a:prstGeom prst="roundRect">
            <a:avLst>
              <a:gd name="adj" fmla="val 10000"/>
            </a:avLst>
          </a:prstGeom>
          <a:solidFill>
            <a:srgbClr val="12334A"/>
          </a:solidFill>
          <a:ln w="9525">
            <a:solidFill>
              <a:srgbClr val="FFB547"/>
            </a:solidFill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9277350" y="3676650"/>
            <a:ext cx="161925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MySQL 8.x</a:t>
            </a:r>
          </a:p>
        </p:txBody>
      </p:sp>
      <p:sp>
        <p:nvSpPr>
          <p:cNvPr id="27" name="Straight Connector 26"/>
          <p:cNvSpPr>
            <a:spLocks noGrp="1"/>
          </p:cNvSpPr>
          <p:nvPr/>
        </p:nvSpPr>
        <p:spPr>
          <a:xfrm>
            <a:off x="8496300" y="4000500"/>
            <a:ext cx="666750" cy="504825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8" name="Straight Connector 27"/>
          <p:cNvSpPr>
            <a:spLocks noGrp="1"/>
          </p:cNvSpPr>
          <p:nvPr/>
        </p:nvSpPr>
        <p:spPr>
          <a:xfrm>
            <a:off x="2457450" y="3381375"/>
            <a:ext cx="666750" cy="0"/>
          </a:xfrm>
          <a:prstGeom prst="line">
            <a:avLst/>
          </a:prstGeom>
          <a:noFill/>
          <a:ln w="28575">
            <a:solidFill>
              <a:srgbClr val="54D7FF"/>
            </a:solidFill>
          </a:ln>
        </p:spPr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1657350" y="2771775"/>
            <a:ext cx="1009650" cy="304800"/>
          </a:xfrm>
          <a:prstGeom prst="roundRect">
            <a:avLst>
              <a:gd name="adj" fmla="val 25000"/>
            </a:avLst>
          </a:prstGeom>
          <a:solidFill>
            <a:srgbClr val="54D7FF"/>
          </a:solidFill>
          <a:ln w="0">
            <a:noFill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752600" y="2771775"/>
            <a:ext cx="8191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HTTP / JSON</a:t>
            </a: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4705350" y="2628900"/>
            <a:ext cx="10096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4800600" y="2628900"/>
            <a:ext cx="8191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Bearer JWT</a:t>
            </a: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886700" y="3857625"/>
            <a:ext cx="9715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7981950" y="3857625"/>
            <a:ext cx="7810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r>
              <a:rPr lang="en-US"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5</a:t>
            </a: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 • TECHNOLOGY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 focused full-stack technology foundation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5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09600" y="1714500"/>
            <a:ext cx="2438400" cy="3714750"/>
          </a:xfrm>
          <a:prstGeom prst="roundRect">
            <a:avLst>
              <a:gd name="adj" fmla="val 3125"/>
            </a:avLst>
          </a:prstGeom>
          <a:solidFill>
            <a:srgbClr val="0C2D42"/>
          </a:solidFill>
          <a:ln w="0">
            <a:noFill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19150" y="1924050"/>
            <a:ext cx="20193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914400" y="19240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CLIENT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76300" y="25146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React 18.3.1</a:t>
            </a: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876300" y="28956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76300" y="30099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React Router 6.26</a:t>
            </a: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876300" y="33909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76300" y="35052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Axios 1.7.7</a:t>
            </a:r>
          </a:p>
        </p:txBody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876300" y="38862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76300" y="4000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Vite 5.4.2</a:t>
            </a:r>
          </a:p>
        </p:txBody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876300" y="43815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876300" y="44958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Lucide React</a:t>
            </a: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876300" y="48768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3276600" y="1714500"/>
            <a:ext cx="2438400" cy="3714750"/>
          </a:xfrm>
          <a:prstGeom prst="roundRect">
            <a:avLst>
              <a:gd name="adj" fmla="val 3125"/>
            </a:avLst>
          </a:prstGeom>
          <a:solidFill>
            <a:srgbClr val="0A263B"/>
          </a:solidFill>
          <a:ln w="0">
            <a:noFill/>
          </a:ln>
        </p:spPr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3486150" y="1924050"/>
            <a:ext cx="20193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3581400" y="19240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SERVER</a:t>
            </a: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3543300" y="25146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Java 21</a:t>
            </a:r>
          </a:p>
        </p:txBody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3543300" y="28956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3543300" y="30099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Boot 3.2.5</a:t>
            </a:r>
          </a:p>
        </p:txBody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3543300" y="33909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3543300" y="35052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Web</a:t>
            </a:r>
          </a:p>
        </p:txBody>
      </p:sp>
      <p:sp>
        <p:nvSpPr>
          <p:cNvPr id="26" name="Straight Connector 25"/>
          <p:cNvSpPr>
            <a:spLocks noGrp="1"/>
          </p:cNvSpPr>
          <p:nvPr/>
        </p:nvSpPr>
        <p:spPr>
          <a:xfrm>
            <a:off x="3543300" y="38862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3543300" y="4000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Security</a:t>
            </a:r>
          </a:p>
        </p:txBody>
      </p:sp>
      <p:sp>
        <p:nvSpPr>
          <p:cNvPr id="28" name="Straight Connector 27"/>
          <p:cNvSpPr>
            <a:spLocks noGrp="1"/>
          </p:cNvSpPr>
          <p:nvPr/>
        </p:nvSpPr>
        <p:spPr>
          <a:xfrm>
            <a:off x="3543300" y="43815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3543300" y="44958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Validation</a:t>
            </a:r>
          </a:p>
        </p:txBody>
      </p:sp>
      <p:sp>
        <p:nvSpPr>
          <p:cNvPr id="30" name="Straight Connector 29"/>
          <p:cNvSpPr>
            <a:spLocks noGrp="1"/>
          </p:cNvSpPr>
          <p:nvPr/>
        </p:nvSpPr>
        <p:spPr>
          <a:xfrm>
            <a:off x="3543300" y="48768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5943600" y="1714500"/>
            <a:ext cx="2438400" cy="3714750"/>
          </a:xfrm>
          <a:prstGeom prst="roundRect">
            <a:avLst>
              <a:gd name="adj" fmla="val 3125"/>
            </a:avLst>
          </a:prstGeom>
          <a:solidFill>
            <a:srgbClr val="0C2D42"/>
          </a:solidFill>
          <a:ln w="0">
            <a:noFill/>
          </a:ln>
        </p:spPr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6153150" y="1924050"/>
            <a:ext cx="201930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6248400" y="19240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DATA &amp; SECURITY</a:t>
            </a: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6210300" y="25146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MySQL Connector</a:t>
            </a:r>
          </a:p>
        </p:txBody>
      </p:sp>
      <p:sp>
        <p:nvSpPr>
          <p:cNvPr id="35" name="Straight Connector 34"/>
          <p:cNvSpPr>
            <a:spLocks noGrp="1"/>
          </p:cNvSpPr>
          <p:nvPr/>
        </p:nvSpPr>
        <p:spPr>
          <a:xfrm>
            <a:off x="6210300" y="28956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6210300" y="30099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Data JPA</a:t>
            </a:r>
          </a:p>
        </p:txBody>
      </p:sp>
      <p:sp>
        <p:nvSpPr>
          <p:cNvPr id="37" name="Straight Connector 36"/>
          <p:cNvSpPr>
            <a:spLocks noGrp="1"/>
          </p:cNvSpPr>
          <p:nvPr/>
        </p:nvSpPr>
        <p:spPr>
          <a:xfrm>
            <a:off x="6210300" y="33909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6210300" y="35052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Hibernate</a:t>
            </a:r>
          </a:p>
        </p:txBody>
      </p:sp>
      <p:sp>
        <p:nvSpPr>
          <p:cNvPr id="39" name="Straight Connector 38"/>
          <p:cNvSpPr>
            <a:spLocks noGrp="1"/>
          </p:cNvSpPr>
          <p:nvPr/>
        </p:nvSpPr>
        <p:spPr>
          <a:xfrm>
            <a:off x="6210300" y="38862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6210300" y="4000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JJWT 0.12.5</a:t>
            </a:r>
          </a:p>
        </p:txBody>
      </p:sp>
      <p:sp>
        <p:nvSpPr>
          <p:cNvPr id="41" name="Straight Connector 40"/>
          <p:cNvSpPr>
            <a:spLocks noGrp="1"/>
          </p:cNvSpPr>
          <p:nvPr/>
        </p:nvSpPr>
        <p:spPr>
          <a:xfrm>
            <a:off x="6210300" y="43815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6210300" y="44958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BCrypt</a:t>
            </a:r>
          </a:p>
        </p:txBody>
      </p:sp>
      <p:sp>
        <p:nvSpPr>
          <p:cNvPr id="43" name="Straight Connector 42"/>
          <p:cNvSpPr>
            <a:spLocks noGrp="1"/>
          </p:cNvSpPr>
          <p:nvPr/>
        </p:nvSpPr>
        <p:spPr>
          <a:xfrm>
            <a:off x="6210300" y="48768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8610600" y="1714500"/>
            <a:ext cx="2438400" cy="3714750"/>
          </a:xfrm>
          <a:prstGeom prst="roundRect">
            <a:avLst>
              <a:gd name="adj" fmla="val 3125"/>
            </a:avLst>
          </a:prstGeom>
          <a:solidFill>
            <a:srgbClr val="0A263B"/>
          </a:solidFill>
          <a:ln w="0">
            <a:noFill/>
          </a:ln>
        </p:spPr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8820150" y="1924050"/>
            <a:ext cx="20193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8915400" y="19240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OPERATIONS</a:t>
            </a:r>
          </a:p>
        </p:txBody>
      </p:sp>
      <p:sp>
        <p:nvSpPr>
          <p:cNvPr id="47" name="Rectangle 46"/>
          <p:cNvSpPr>
            <a:spLocks noGrp="1"/>
          </p:cNvSpPr>
          <p:nvPr/>
        </p:nvSpPr>
        <p:spPr>
          <a:xfrm>
            <a:off x="8877300" y="25146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Maven</a:t>
            </a:r>
          </a:p>
        </p:txBody>
      </p:sp>
      <p:sp>
        <p:nvSpPr>
          <p:cNvPr id="48" name="Straight Connector 47"/>
          <p:cNvSpPr>
            <a:spLocks noGrp="1"/>
          </p:cNvSpPr>
          <p:nvPr/>
        </p:nvSpPr>
        <p:spPr>
          <a:xfrm>
            <a:off x="8877300" y="28956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8877300" y="30099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Spring Actuator</a:t>
            </a:r>
          </a:p>
        </p:txBody>
      </p:sp>
      <p:sp>
        <p:nvSpPr>
          <p:cNvPr id="50" name="Straight Connector 49"/>
          <p:cNvSpPr>
            <a:spLocks noGrp="1"/>
          </p:cNvSpPr>
          <p:nvPr/>
        </p:nvSpPr>
        <p:spPr>
          <a:xfrm>
            <a:off x="8877300" y="33909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8877300" y="35052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Scheduled tasks</a:t>
            </a:r>
          </a:p>
        </p:txBody>
      </p:sp>
      <p:sp>
        <p:nvSpPr>
          <p:cNvPr id="52" name="Straight Connector 51"/>
          <p:cNvSpPr>
            <a:spLocks noGrp="1"/>
          </p:cNvSpPr>
          <p:nvPr/>
        </p:nvSpPr>
        <p:spPr>
          <a:xfrm>
            <a:off x="8877300" y="38862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8877300" y="40005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CSV exports</a:t>
            </a:r>
          </a:p>
        </p:txBody>
      </p:sp>
      <p:sp>
        <p:nvSpPr>
          <p:cNvPr id="54" name="Straight Connector 53"/>
          <p:cNvSpPr>
            <a:spLocks noGrp="1"/>
          </p:cNvSpPr>
          <p:nvPr/>
        </p:nvSpPr>
        <p:spPr>
          <a:xfrm>
            <a:off x="8877300" y="43815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8877300" y="4495800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JUnit / Spring Test</a:t>
            </a:r>
          </a:p>
        </p:txBody>
      </p:sp>
      <p:sp>
        <p:nvSpPr>
          <p:cNvPr id="56" name="Straight Connector 55"/>
          <p:cNvSpPr>
            <a:spLocks noGrp="1"/>
          </p:cNvSpPr>
          <p:nvPr/>
        </p:nvSpPr>
        <p:spPr>
          <a:xfrm>
            <a:off x="8877300" y="4876800"/>
            <a:ext cx="1866900" cy="0"/>
          </a:xfrm>
          <a:prstGeom prst="line">
            <a:avLst/>
          </a:prstGeom>
          <a:noFill/>
          <a:ln w="9525">
            <a:solidFill>
              <a:srgbClr val="21465B"/>
            </a:solidFill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r>
              <a:rPr lang="en-US"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6</a:t>
            </a: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 • ACCESS MODEL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Five roles divide responsibility across the lifecycle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6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09600" y="1676400"/>
            <a:ext cx="3276600" cy="1466850"/>
          </a:xfrm>
          <a:prstGeom prst="roundRect">
            <a:avLst>
              <a:gd name="adj" fmla="val 5195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00100" y="18669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895350" y="18669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333500" y="1847850"/>
            <a:ext cx="23431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BENEFICIARY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38200" y="2362200"/>
            <a:ext cx="28194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Profile, schemes, applications, documents, tracking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114800" y="1676400"/>
            <a:ext cx="3276600" cy="1466850"/>
          </a:xfrm>
          <a:prstGeom prst="roundRect">
            <a:avLst>
              <a:gd name="adj" fmla="val 5195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4305300" y="18669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400550" y="18669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838700" y="1847850"/>
            <a:ext cx="23431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FIELD OFFICER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343400" y="2362200"/>
            <a:ext cx="28194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Ground verification and reverification</a:t>
            </a: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7620000" y="1676400"/>
            <a:ext cx="3276600" cy="1466850"/>
          </a:xfrm>
          <a:prstGeom prst="roundRect">
            <a:avLst>
              <a:gd name="adj" fmla="val 5195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7810500" y="18669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905750" y="18669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343900" y="1847850"/>
            <a:ext cx="23431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DISTRICT OFFICER</a:t>
            </a: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848600" y="2362200"/>
            <a:ext cx="28194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District-level review and escalation</a:t>
            </a: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09600" y="3486150"/>
            <a:ext cx="5257800" cy="1466850"/>
          </a:xfrm>
          <a:prstGeom prst="roundRect">
            <a:avLst>
              <a:gd name="adj" fmla="val 5195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800100" y="367665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95350" y="367665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333500" y="3657600"/>
            <a:ext cx="43243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FINANCE OFFICER</a:t>
            </a: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38200" y="4171950"/>
            <a:ext cx="48006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Financial approval, plans and releases</a:t>
            </a: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4114800" y="3486150"/>
            <a:ext cx="5257800" cy="1466850"/>
          </a:xfrm>
          <a:prstGeom prst="roundRect">
            <a:avLst>
              <a:gd name="adj" fmla="val 5195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4305300" y="367665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4400550" y="367665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4838700" y="3657600"/>
            <a:ext cx="43243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ADMIN</a:t>
            </a: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4343400" y="4171950"/>
            <a:ext cx="48006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Schemes, regions, users’ oversight, reports and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r>
              <a:rPr lang="en-US"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7</a:t>
            </a: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 • WORKFLOW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Applications move through explicit controlled states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Rejected and reverification paths are supported at decision stages.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54082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7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0005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18394D"/>
          </a:solidFill>
          <a:ln w="9525">
            <a:solidFill>
              <a:srgbClr val="19C5B1"/>
            </a:solidFill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49530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DRAFT</a:t>
            </a:r>
          </a:p>
        </p:txBody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1781175" y="2695575"/>
            <a:ext cx="257175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205740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19C5B1"/>
            </a:solidFill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15265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SUBMITTED</a:t>
            </a: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3438525" y="2695575"/>
            <a:ext cx="257175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371475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19C5B1"/>
            </a:solidFill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81000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ELIGIBILITY</a:t>
            </a: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EVALUATED</a:t>
            </a: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5095875" y="2695575"/>
            <a:ext cx="257175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537210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19C5B1"/>
            </a:solidFill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46735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FIELD</a:t>
            </a: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VERIFICATION</a:t>
            </a: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6753225" y="2695575"/>
            <a:ext cx="257175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702945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19C5B1"/>
            </a:solidFill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12470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DISTRICT</a:t>
            </a: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REVIEW</a:t>
            </a:r>
          </a:p>
        </p:txBody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8410575" y="2695575"/>
            <a:ext cx="257175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868680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19C5B1"/>
            </a:solidFill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78205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FINANCE</a:t>
            </a: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APPROVAL</a:t>
            </a:r>
          </a:p>
        </p:txBody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10067925" y="2695575"/>
            <a:ext cx="257175" cy="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10344150" y="233362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E2A3E"/>
          </a:solidFill>
          <a:ln w="9525">
            <a:solidFill>
              <a:srgbClr val="FFB547"/>
            </a:solidFill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10439400" y="2409825"/>
            <a:ext cx="119062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DISBURSEMENT</a:t>
            </a: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PLANNED</a:t>
            </a: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2095500" y="3857625"/>
            <a:ext cx="8001000" cy="1143000"/>
          </a:xfrm>
          <a:prstGeom prst="roundRect">
            <a:avLst>
              <a:gd name="adj" fmla="val 6667"/>
            </a:avLst>
          </a:prstGeom>
          <a:solidFill>
            <a:srgbClr val="102C40"/>
          </a:solidFill>
          <a:ln w="0">
            <a:noFill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324100" y="40005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rPr>
              <a:t>ALTERNATE DECISIONS</a:t>
            </a: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400300" y="441960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REJECTED</a:t>
            </a: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4324350" y="4419600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rPr>
              <a:t>REVERIFICATION REQUIRED</a:t>
            </a: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7524750" y="441960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CONTINUE FORWARD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r>
              <a:rPr lang="en-US"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8</a:t>
            </a: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 • BUSINESS LOGIC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Eligibility combines weighted rules with mandatory gates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08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47700" y="211455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0C2941"/>
          </a:solidFill>
          <a:ln w="9525">
            <a:solidFill>
              <a:srgbClr val="19C5B1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742950" y="2190750"/>
            <a:ext cx="161925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Beneficiary profile</a:t>
            </a: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7700" y="327660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0C2941"/>
          </a:solidFill>
          <a:ln w="9525">
            <a:solidFill>
              <a:srgbClr val="19C5B1"/>
            </a:solidFill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42950" y="3352800"/>
            <a:ext cx="161925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Scheme criteria</a:t>
            </a: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2457450" y="2457450"/>
            <a:ext cx="647700" cy="45720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2457450" y="3143250"/>
            <a:ext cx="647700" cy="47625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124200" y="2571750"/>
            <a:ext cx="2095500" cy="895350"/>
          </a:xfrm>
          <a:prstGeom prst="roundRect">
            <a:avLst>
              <a:gd name="adj" fmla="val 8511"/>
            </a:avLst>
          </a:prstGeom>
          <a:solidFill>
            <a:srgbClr val="12384B"/>
          </a:solidFill>
          <a:ln w="9525">
            <a:solidFill>
              <a:srgbClr val="54D7FF"/>
            </a:solidFill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219450" y="2647950"/>
            <a:ext cx="1905000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Evaluate operator</a:t>
            </a: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≤  ≥  =  IN</a:t>
            </a:r>
          </a:p>
        </p:txBody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5219700" y="3019425"/>
            <a:ext cx="647700" cy="0"/>
          </a:xfrm>
          <a:prstGeom prst="line">
            <a:avLst/>
          </a:prstGeom>
          <a:noFill/>
          <a:ln w="28575">
            <a:solidFill>
              <a:srgbClr val="54D7FF"/>
            </a:solidFill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886450" y="211455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12384B"/>
          </a:solidFill>
          <a:ln w="9525">
            <a:solidFill>
              <a:srgbClr val="FFB547"/>
            </a:solidFill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5981700" y="2190750"/>
            <a:ext cx="161925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Weighted score</a:t>
            </a: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886450" y="327660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12384B"/>
          </a:solidFill>
          <a:ln w="9525">
            <a:solidFill>
              <a:srgbClr val="FFB547"/>
            </a:solidFill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5981700" y="3352800"/>
            <a:ext cx="161925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Mandatory pass?</a:t>
            </a:r>
          </a:p>
        </p:txBody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7696200" y="2457450"/>
            <a:ext cx="666750" cy="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7696200" y="3619500"/>
            <a:ext cx="666750" cy="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8382000" y="2114550"/>
            <a:ext cx="2286000" cy="685800"/>
          </a:xfrm>
          <a:prstGeom prst="roundRect">
            <a:avLst>
              <a:gd name="adj" fmla="val 11111"/>
            </a:avLst>
          </a:prstGeom>
          <a:solidFill>
            <a:srgbClr val="12384B"/>
          </a:solidFill>
          <a:ln w="9525">
            <a:solidFill>
              <a:srgbClr val="4CD7A4"/>
            </a:solidFill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8477250" y="2190750"/>
            <a:ext cx="209550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Eligible / ineligible</a:t>
            </a: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8382000" y="3276600"/>
            <a:ext cx="2286000" cy="685800"/>
          </a:xfrm>
          <a:prstGeom prst="roundRect">
            <a:avLst>
              <a:gd name="adj" fmla="val 11111"/>
            </a:avLst>
          </a:prstGeom>
          <a:solidFill>
            <a:srgbClr val="12384B"/>
          </a:solidFill>
          <a:ln w="9525">
            <a:solidFill>
              <a:srgbClr val="4CD7A4"/>
            </a:solidFill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477250" y="3352800"/>
            <a:ext cx="2095500" cy="5334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LOW / FLAGGED /</a:t>
            </a:r>
          </a:p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HIGH_VALUE risk</a:t>
            </a: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47700" y="4648200"/>
            <a:ext cx="10020300" cy="857250"/>
          </a:xfrm>
          <a:prstGeom prst="roundRect">
            <a:avLst>
              <a:gd name="adj" fmla="val 8889"/>
            </a:avLst>
          </a:prstGeom>
          <a:solidFill>
            <a:srgbClr val="0A283B"/>
          </a:solidFill>
          <a:ln w="0">
            <a:noFill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876300" y="48006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Implemented criterion types</a:t>
            </a: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76300" y="51244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Annual income  •  Age  •  Beneficiary category  •  Land holding  •  Disability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09</a:t>
            </a: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 • MODULE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Multi-level verification preserves separation of duties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09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09600" y="1885950"/>
            <a:ext cx="3276600" cy="2286000"/>
          </a:xfrm>
          <a:prstGeom prst="roundRect">
            <a:avLst>
              <a:gd name="adj" fmla="val 3333"/>
            </a:avLst>
          </a:prstGeom>
          <a:solidFill>
            <a:srgbClr val="0B2B40"/>
          </a:solidFill>
          <a:ln w="0">
            <a:noFill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38200" y="21145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933450" y="21145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409700" y="2076450"/>
            <a:ext cx="2143125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FIELD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76300" y="2762250"/>
            <a:ext cx="27432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Approve • Reject • Request reverification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76300" y="36004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Decision + remarks + officer + timestamp</a:t>
            </a: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3886200" y="3028950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114800" y="1885950"/>
            <a:ext cx="3276600" cy="2286000"/>
          </a:xfrm>
          <a:prstGeom prst="roundRect">
            <a:avLst>
              <a:gd name="adj" fmla="val 3333"/>
            </a:avLst>
          </a:prstGeom>
          <a:solidFill>
            <a:srgbClr val="0B2B40"/>
          </a:solidFill>
          <a:ln w="0">
            <a:noFill/>
          </a:ln>
        </p:spPr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343400" y="21145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4438650" y="21145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914900" y="2076450"/>
            <a:ext cx="2143125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DISTRICT</a:t>
            </a: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381500" y="2762250"/>
            <a:ext cx="27432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Approve • Reject • Escalate</a:t>
            </a: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381500" y="36004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Decision + remarks + officer + timestamp</a:t>
            </a:r>
          </a:p>
        </p:txBody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7391400" y="3028950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7620000" y="1885950"/>
            <a:ext cx="3276600" cy="2286000"/>
          </a:xfrm>
          <a:prstGeom prst="roundRect">
            <a:avLst>
              <a:gd name="adj" fmla="val 3333"/>
            </a:avLst>
          </a:prstGeom>
          <a:solidFill>
            <a:srgbClr val="0B2B40"/>
          </a:solidFill>
          <a:ln w="0">
            <a:noFill/>
          </a:ln>
        </p:spPr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7848600" y="21145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943850" y="21145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8420100" y="2076450"/>
            <a:ext cx="2143125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FINANCE</a:t>
            </a: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886700" y="2762250"/>
            <a:ext cx="27432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Approve amount • Reject</a:t>
            </a: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7886700" y="3600450"/>
            <a:ext cx="274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FB547"/>
                </a:solidFill>
                <a:latin typeface="Bitstream Charter"/>
                <a:ea typeface="Bitstream Charter"/>
                <a:cs typeface="Bitstream Charter"/>
              </a:rPr>
              <a:t>Decision + remarks + officer + timestamp</a:t>
            </a: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09600" y="4552950"/>
            <a:ext cx="10287000" cy="914400"/>
          </a:xfrm>
          <a:prstGeom prst="roundRect">
            <a:avLst>
              <a:gd name="adj" fmla="val 8333"/>
            </a:avLst>
          </a:prstGeom>
          <a:solidFill>
            <a:srgbClr val="10263A"/>
          </a:solidFill>
          <a:ln w="0">
            <a:noFill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38200" y="47053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AUDITABLE STATE CHANGE</a:t>
            </a: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838200" y="50101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Each decision records the previous status, resulting status and action details in the audit trail.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lang="en-US"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 • MODULE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Milestones gate every fund release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The implementation prevents releases that exceed scheduled or remaining amounts, and requires compliance when configured.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0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76250" y="2000250"/>
            <a:ext cx="2038350" cy="281940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66750" y="21907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62000" y="2190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66750" y="27051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Create plan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66750" y="3257550"/>
            <a:ext cx="16573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Milestone amounts must match the approved plan total.</a:t>
            </a: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2514600" y="3409950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743200" y="2000250"/>
            <a:ext cx="2038350" cy="281940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2933700" y="21907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028950" y="2190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2933700" y="27051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Complete compliance</a:t>
            </a: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933700" y="3257550"/>
            <a:ext cx="16573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Officer marks required condition as satisfied.</a:t>
            </a: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4781550" y="3409950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010150" y="2000250"/>
            <a:ext cx="2038350" cy="281940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5200650" y="21907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5295900" y="2190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5200650" y="27051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Validate release</a:t>
            </a: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5200650" y="3257550"/>
            <a:ext cx="16573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Check schedule, plan balance, scheme budget and region.</a:t>
            </a:r>
          </a:p>
        </p:txBody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7048500" y="3409950"/>
            <a:ext cx="209550" cy="0"/>
          </a:xfrm>
          <a:prstGeom prst="line">
            <a:avLst/>
          </a:prstGeom>
          <a:noFill/>
          <a:ln w="28575">
            <a:solidFill>
              <a:srgbClr val="FFB547"/>
            </a:solidFill>
          </a:ln>
        </p:spPr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7277100" y="2000250"/>
            <a:ext cx="2038350" cy="2819400"/>
          </a:xfrm>
          <a:prstGeom prst="roundRect">
            <a:avLst>
              <a:gd name="adj" fmla="val 3738"/>
            </a:avLst>
          </a:prstGeom>
          <a:solidFill>
            <a:srgbClr val="0D3444"/>
          </a:solidFill>
          <a:ln w="0">
            <a:noFill/>
          </a:ln>
        </p:spPr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7467600" y="21907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562850" y="2190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467600" y="27051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Treasury simulation</a:t>
            </a: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7467600" y="3257550"/>
            <a:ext cx="16573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Generate transaction reference and processed status.</a:t>
            </a:r>
          </a:p>
        </p:txBody>
      </p:sp>
      <p:sp>
        <p:nvSpPr>
          <p:cNvPr id="29" name="Straight Connector 28"/>
          <p:cNvSpPr>
            <a:spLocks noGrp="1"/>
          </p:cNvSpPr>
          <p:nvPr/>
        </p:nvSpPr>
        <p:spPr>
          <a:xfrm>
            <a:off x="9315450" y="3409950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9544050" y="2000250"/>
            <a:ext cx="2038350" cy="281940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9734550" y="21907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9829800" y="2190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9734550" y="2705100"/>
            <a:ext cx="165735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Update records</a:t>
            </a: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9734550" y="3257550"/>
            <a:ext cx="16573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Milestone, plan, application, scheme, region and audit 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lang="en-US"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 • SECURITY &amp; API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Stateless access from login to protected resource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476250" y="200025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66750" y="22098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762000" y="22098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66750" y="27241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Credentials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66750" y="3143250"/>
            <a:ext cx="165735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POST /api/auth/login</a:t>
            </a:r>
          </a:p>
        </p:txBody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2514600" y="3209925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743200" y="200025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933700" y="22098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028950" y="22098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933700" y="27241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Authentication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2933700" y="3143250"/>
            <a:ext cx="165735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DaoAuthenticationProvider + BCrypt</a:t>
            </a:r>
          </a:p>
        </p:txBody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4781550" y="3209925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5010150" y="200025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200650" y="22098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5295900" y="22098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200650" y="27241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Token</a:t>
            </a: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5200650" y="3143250"/>
            <a:ext cx="165735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JJWT issues a 24-hour bearer token</a:t>
            </a:r>
          </a:p>
        </p:txBody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7048500" y="3209925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7277100" y="200025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7467600" y="22098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562850" y="22098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7467600" y="27241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Request filter</a:t>
            </a: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467600" y="3143250"/>
            <a:ext cx="165735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JWT filter restores authenticated context</a:t>
            </a:r>
          </a:p>
        </p:txBody>
      </p:sp>
      <p:sp>
        <p:nvSpPr>
          <p:cNvPr id="28" name="Straight Connector 27"/>
          <p:cNvSpPr>
            <a:spLocks noGrp="1"/>
          </p:cNvSpPr>
          <p:nvPr/>
        </p:nvSpPr>
        <p:spPr>
          <a:xfrm>
            <a:off x="9315450" y="3209925"/>
            <a:ext cx="209550" cy="0"/>
          </a:xfrm>
          <a:prstGeom prst="line">
            <a:avLst/>
          </a:prstGeom>
          <a:noFill/>
          <a:ln w="28575">
            <a:solidFill>
              <a:srgbClr val="19C5B1"/>
            </a:solidFill>
          </a:ln>
        </p:spPr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9544050" y="2000250"/>
            <a:ext cx="2038350" cy="2381250"/>
          </a:xfrm>
          <a:prstGeom prst="roundRect">
            <a:avLst>
              <a:gd name="adj" fmla="val 3738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9734550" y="2209800"/>
            <a:ext cx="4000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829800" y="2209800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9734550" y="27241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Authorization</a:t>
            </a: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9734550" y="3143250"/>
            <a:ext cx="165735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Endpoint rules + method security + React route guards</a:t>
            </a: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609600" y="4762500"/>
            <a:ext cx="10287000" cy="762000"/>
          </a:xfrm>
          <a:prstGeom prst="roundRect">
            <a:avLst>
              <a:gd name="adj" fmla="val 10000"/>
            </a:avLst>
          </a:prstGeom>
          <a:solidFill>
            <a:srgbClr val="102C40"/>
          </a:solidFill>
          <a:ln w="0">
            <a:noFill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838200" y="49149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54D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4D7FF"/>
                </a:solidFill>
                <a:latin typeface="Bitstream Charter"/>
                <a:ea typeface="Bitstream Charter"/>
                <a:cs typeface="Bitstream Charter"/>
              </a:rPr>
              <a:t>Public GET endpoints</a:t>
            </a: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838200" y="518160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Schemes and regions are readable without authentication; other routes require authentication or specific roles.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lang="en-US"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2</a:t>
            </a: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 • APPLICATION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Role-aware dashboards turn backend workflows into tasks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11620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The source contains dedicated pages and API service modules for each audience.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2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09600" y="1676400"/>
            <a:ext cx="10287000" cy="1066800"/>
          </a:xfrm>
          <a:prstGeom prst="roundRect">
            <a:avLst>
              <a:gd name="adj" fmla="val 7143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819150" y="18859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18859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428750" y="182880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BENEFICIARY EXPERIENCE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629150" y="18383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Dashboard • scheme catalog • profile • applications • status tracking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09600" y="2990850"/>
            <a:ext cx="10287000" cy="1066800"/>
          </a:xfrm>
          <a:prstGeom prst="roundRect">
            <a:avLst>
              <a:gd name="adj" fmla="val 7143"/>
            </a:avLst>
          </a:prstGeom>
          <a:solidFill>
            <a:srgbClr val="0B293E"/>
          </a:solidFill>
          <a:ln w="0">
            <a:noFill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819150" y="32004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914400" y="320040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428750" y="31432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OFFICER WORKBENCH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629150" y="315277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Field verification • district review • finance approval • milestones • utilization</a:t>
            </a: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09600" y="4305300"/>
            <a:ext cx="10287000" cy="1066800"/>
          </a:xfrm>
          <a:prstGeom prst="roundRect">
            <a:avLst>
              <a:gd name="adj" fmla="val 7143"/>
            </a:avLst>
          </a:prstGeom>
          <a:solidFill>
            <a:srgbClr val="0B3040"/>
          </a:solidFill>
          <a:ln w="0">
            <a:noFill/>
          </a:ln>
        </p:spPr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819150" y="45148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14400" y="45148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428750" y="445770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ADMIN CONTROL CENTER</a:t>
            </a: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629150" y="4467225"/>
            <a:ext cx="5962650" cy="628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Scheme and region management • beneficiary directory • reports • audit • integrations</a:t>
            </a: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609600" y="5810250"/>
            <a:ext cx="10287000" cy="304800"/>
          </a:xfrm>
          <a:prstGeom prst="roundRect">
            <a:avLst>
              <a:gd name="adj" fmla="val 25000"/>
            </a:avLst>
          </a:prstGeom>
          <a:solidFill>
            <a:srgbClr val="54D7FF"/>
          </a:solidFill>
          <a:ln w="0">
            <a:noFill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04850" y="5810250"/>
            <a:ext cx="1009650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Shared: AppLayout • Sidebar • Header • DataTable • Charts • WorkflowStepper • Toasts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>
            <a:spLocks noGrp="1"/>
          </p:cNvSpPr>
          <p:nvPr/>
        </p:nvSpPr>
        <p:spPr>
          <a:xfrm>
            <a:off x="609600" y="3238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7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lang="en-US"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3</a:t>
            </a:r>
            <a:r>
              <a:rPr sz="97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 • ROADMAP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6191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Current boundaries define the next engineering priorities</a:t>
            </a: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6F8BA1"/>
                </a:solidFill>
                <a:latin typeface="Bitstream Charter"/>
                <a:ea typeface="Bitstream Charter"/>
                <a:cs typeface="Bitstream Charter"/>
              </a:rPr>
              <a:t>GOVERNMENT SUBSIDY / GRANT DISBURSEMENT TRACKING SYSTEM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3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09600" y="16192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CURRENT IMPLEMENTATION BOUNDARIES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191250" y="16192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REALISTIC NEXT STEPS</a:t>
            </a: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09600" y="2076450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81050" y="207645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!</a:t>
            </a: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219200" y="2076450"/>
            <a:ext cx="39433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Treasury and identity services are simulations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09600" y="2895600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781050" y="289560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!</a:t>
            </a: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219200" y="2895600"/>
            <a:ext cx="39433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Documents are stored through local file paths</a:t>
            </a: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09600" y="3714750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781050" y="371475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!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219200" y="3714750"/>
            <a:ext cx="39433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CORS currently permits broad origin patterns</a:t>
            </a: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09600" y="4533900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211F2A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81050" y="453390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6B6B"/>
                </a:solidFill>
                <a:latin typeface="Bitstream Charter"/>
                <a:ea typeface="Bitstream Charter"/>
                <a:cs typeface="Bitstream Charter"/>
              </a:rPr>
              <a:t>!</a:t>
            </a: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219200" y="4533900"/>
            <a:ext cx="39433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Single Spring Boot monolith + one MySQL instance</a:t>
            </a: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6191250" y="2076450"/>
            <a:ext cx="4933950" cy="571500"/>
          </a:xfrm>
          <a:prstGeom prst="roundRect">
            <a:avLst>
              <a:gd name="adj" fmla="val 13333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6362700" y="207645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819900" y="2076450"/>
            <a:ext cx="40576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Connect approved PFMS / DBT and identity gateways</a:t>
            </a: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6191250" y="2895600"/>
            <a:ext cx="4933950" cy="571500"/>
          </a:xfrm>
          <a:prstGeom prst="roundRect">
            <a:avLst>
              <a:gd name="adj" fmla="val 13333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62700" y="289560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819900" y="2895600"/>
            <a:ext cx="40576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Adopt secure object storage and malware scanning</a:t>
            </a: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191250" y="3714750"/>
            <a:ext cx="4933950" cy="571500"/>
          </a:xfrm>
          <a:prstGeom prst="roundRect">
            <a:avLst>
              <a:gd name="adj" fmla="val 13333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6362700" y="371475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819900" y="3714750"/>
            <a:ext cx="40576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Restrict origins and externalize secrets by environment</a:t>
            </a: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6191250" y="4533900"/>
            <a:ext cx="4933950" cy="571500"/>
          </a:xfrm>
          <a:prstGeom prst="roundRect">
            <a:avLst>
              <a:gd name="adj" fmla="val 13333"/>
            </a:avLst>
          </a:prstGeom>
          <a:solidFill>
            <a:srgbClr val="0B3239"/>
          </a:solidFill>
          <a:ln w="0">
            <a:noFill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6362700" y="4533900"/>
            <a:ext cx="3238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CD7A4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6819900" y="4533900"/>
            <a:ext cx="405765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Add observability, backups and deployment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>
            <a:spLocks noGrp="1"/>
          </p:cNvSpPr>
          <p:nvPr/>
        </p:nvSpPr>
        <p:spPr>
          <a:xfrm>
            <a:off x="7239000" y="0"/>
            <a:ext cx="4953000" cy="5143500"/>
          </a:xfrm>
          <a:prstGeom prst="roundRect">
            <a:avLst>
              <a:gd name="adj" fmla="val 1538"/>
            </a:avLst>
          </a:prstGeom>
          <a:solidFill>
            <a:srgbClr val="0B344B"/>
          </a:solidFill>
          <a:ln w="0">
            <a:noFill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8743950" y="838200"/>
            <a:ext cx="2857500" cy="2857500"/>
          </a:xfrm>
          <a:prstGeom prst="roundRect">
            <a:avLst>
              <a:gd name="adj" fmla="val 2667"/>
            </a:avLst>
          </a:prstGeom>
          <a:solidFill>
            <a:srgbClr val="11546A"/>
          </a:solidFill>
          <a:ln w="0">
            <a:noFill/>
          </a:ln>
        </p:spPr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9620250" y="1714500"/>
            <a:ext cx="1238250" cy="1238250"/>
          </a:xfrm>
          <a:prstGeom prst="roundRect">
            <a:avLst>
              <a:gd name="adj" fmla="val 6154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647700" y="8191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0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CONCLUSION</a:t>
            </a: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47700" y="125730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30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 traceable digital path</a:t>
            </a:r>
          </a:p>
          <a:p>
            <a:pPr>
              <a:defRPr sz="30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from application to impact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47700" y="2686050"/>
            <a:ext cx="6191250" cy="990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3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The project combines role-based access, configurable eligibility, staged verification, compliance-gated disbursement, utilization tracking and administrative oversight in one coherent full-stack system.</a:t>
            </a: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7700" y="4095750"/>
            <a:ext cx="1123950" cy="304800"/>
          </a:xfrm>
          <a:prstGeom prst="roundRect">
            <a:avLst>
              <a:gd name="adj" fmla="val 25000"/>
            </a:avLst>
          </a:prstGeom>
          <a:solidFill>
            <a:srgbClr val="19C5B1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42950" y="4095750"/>
            <a:ext cx="9334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ACCURATE</a:t>
            </a: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1885950" y="4095750"/>
            <a:ext cx="1200150" cy="304800"/>
          </a:xfrm>
          <a:prstGeom prst="roundRect">
            <a:avLst>
              <a:gd name="adj" fmla="val 25000"/>
            </a:avLst>
          </a:prstGeom>
          <a:solidFill>
            <a:srgbClr val="54D7FF"/>
          </a:solidFill>
          <a:ln w="0">
            <a:noFill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981200" y="4095750"/>
            <a:ext cx="10096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AUDITABLE</a:t>
            </a: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200400" y="4095750"/>
            <a:ext cx="1238250" cy="304800"/>
          </a:xfrm>
          <a:prstGeom prst="roundRect">
            <a:avLst>
              <a:gd name="adj" fmla="val 25000"/>
            </a:avLst>
          </a:prstGeom>
          <a:solidFill>
            <a:srgbClr val="FFB547"/>
          </a:solidFill>
          <a:ln w="0">
            <a:noFill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295650" y="4095750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71A2B"/>
                </a:solidFill>
                <a:latin typeface="Bitstream Charter"/>
                <a:ea typeface="Bitstream Charter"/>
                <a:cs typeface="Bitstream Charter"/>
              </a:rPr>
              <a:t>EXTENSIBLE</a:t>
            </a: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47700" y="52197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21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47700" y="565785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3D4"/>
                </a:solidFill>
                <a:latin typeface="Bitstream Charter"/>
                <a:ea typeface="Bitstream Charter"/>
                <a:cs typeface="Bitstream Charter"/>
              </a:rPr>
              <a:t>Questions &amp; discussion</a:t>
            </a: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1144250" y="6419850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defRPr sz="825" b="1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1</a:t>
            </a:r>
            <a:r>
              <a:rPr lang="en-US" sz="825" b="1" dirty="0">
                <a:solidFill>
                  <a:srgbClr val="19C5B1"/>
                </a:solidFill>
                <a:latin typeface="Bitstream Charter"/>
                <a:ea typeface="Bitstream Charter"/>
                <a:cs typeface="Bitstream Charter"/>
              </a:rPr>
              <a:t>4</a:t>
            </a:r>
            <a:endParaRPr sz="825" b="1" dirty="0">
              <a:solidFill>
                <a:srgbClr val="19C5B1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1333</Words>
  <Application>Microsoft Office PowerPoint</Application>
  <PresentationFormat>Widescreen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Bitstream Charter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Raushan Kumar</cp:lastModifiedBy>
  <cp:revision>3</cp:revision>
  <dcterms:created xsi:type="dcterms:W3CDTF">2026-09-13T15:50:12Z</dcterms:created>
  <dcterms:modified xsi:type="dcterms:W3CDTF">2026-09-17T14:13:01Z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5695F07B7CE049689D53693020977702_13</vt:lpwstr>
  </property>
  <property fmtid="{D5CDD505-2E9C-101B-9397-08002B2CF9AE}" pid="3" name="KSOProductBuildVer">
    <vt:lpwstr>1033-12.1.0.28485</vt:lpwstr>
  </property>
</Properties>
</file>